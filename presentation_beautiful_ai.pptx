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12680" y="-685800"/>
            <a:ext cx="2926080" cy="292608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103120" cy="210312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68580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4D3E8"/>
                </a:solidFill>
                <a:latin typeface="Aptos"/>
              </a:rPr>
              <a:t>NO SQL  /  PROJECT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417320"/>
            <a:ext cx="768096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800" b="1" i="0">
                <a:solidFill>
                  <a:srgbClr val="F6F8FF"/>
                </a:solidFill>
                <a:latin typeface="Aptos"/>
              </a:rPr>
              <a:t>Каталог электроники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5943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34D3E8"/>
                </a:solidFill>
                <a:latin typeface="Aptos"/>
              </a:rPr>
              <a:t>Проект NoSQL • Вариант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64008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AEBCDA"/>
                </a:solidFill>
                <a:latin typeface="Aptos"/>
              </a:rPr>
              <a:t>Быстрый поиск товаров, фильтрация и аналитика на MongoDB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417320"/>
            <a:ext cx="3337560" cy="425196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737360"/>
            <a:ext cx="201168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5800" b="1" i="0">
                <a:solidFill>
                  <a:srgbClr val="34D3E8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852928"/>
            <a:ext cx="2377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F6F8FF"/>
                </a:solidFill>
                <a:latin typeface="Aptos"/>
              </a:rPr>
              <a:t>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3364992"/>
            <a:ext cx="2331720" cy="54864"/>
          </a:xfrm>
          <a:prstGeom prst="rect">
            <a:avLst/>
          </a:prstGeom>
          <a:solidFill>
            <a:srgbClr val="8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30752"/>
            <a:ext cx="242316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EBCDA"/>
                </a:solidFill>
                <a:latin typeface="Aptos"/>
              </a:rPr>
              <a:t>FILTER  •  INDEX  •  AGGREGATE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989320"/>
            <a:ext cx="6217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EBCDA"/>
                </a:solidFill>
                <a:latin typeface="Aptos"/>
              </a:rPr>
              <a:t>ИС 24–21  •  MongoDB + 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4420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01  / 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12680" y="-685800"/>
            <a:ext cx="2926080" cy="292608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103120" cy="210312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F6F8FF"/>
                </a:solidFill>
                <a:latin typeface="Aptos"/>
              </a:rPr>
              <a:t>Задача проекта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777240" cy="50292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960120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EBCDA"/>
                </a:solidFill>
                <a:latin typeface="Aptos"/>
              </a:rPr>
              <a:t>Что должен уметь каталог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02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029968"/>
            <a:ext cx="54864" cy="3118104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Поиск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Находить товары по названию и категории.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2029968"/>
            <a:ext cx="54864" cy="3118104"/>
          </a:xfrm>
          <a:prstGeom prst="rect">
            <a:avLst/>
          </a:prstGeom>
          <a:solidFill>
            <a:srgbClr val="8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Фильтры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Отбирать по цене и характеристикам.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3" y="2029968"/>
            <a:ext cx="54864" cy="3118104"/>
          </a:xfrm>
          <a:prstGeom prst="rect">
            <a:avLst/>
          </a:prstGeom>
          <a:solidFill>
            <a:srgbClr val="4DE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Аналитика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Рассчитывать среднюю цену и сравнивать результаты.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15000"/>
            <a:ext cx="6629400" cy="438912"/>
          </a:xfrm>
          <a:prstGeom prst="roundRect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97296"/>
            <a:ext cx="6263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Цель: найти баланс между удобством схемы и скоростью чтения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12680" y="-685800"/>
            <a:ext cx="2926080" cy="292608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103120" cy="210312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F6F8FF"/>
                </a:solidFill>
                <a:latin typeface="Aptos"/>
              </a:rPr>
              <a:t>Почему MongoDB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777240" cy="50292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960120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EBCDA"/>
                </a:solidFill>
                <a:latin typeface="Aptos"/>
              </a:rPr>
              <a:t>Документная модель для каталога товаров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03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029968"/>
            <a:ext cx="54864" cy="3118104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Гибкая схема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У разных товаров могут быть разные характеристики.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2029968"/>
            <a:ext cx="54864" cy="3118104"/>
          </a:xfrm>
          <a:prstGeom prst="rect">
            <a:avLst/>
          </a:prstGeom>
          <a:solidFill>
            <a:srgbClr val="8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Быстрые запросы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Индексы помогают ускорять частые сценарии поиска.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3" y="2029968"/>
            <a:ext cx="54864" cy="3118104"/>
          </a:xfrm>
          <a:prstGeom prst="rect">
            <a:avLst/>
          </a:prstGeom>
          <a:solidFill>
            <a:srgbClr val="4DE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Агрегация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Pipeline позволяет получать сводные показатели.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15000"/>
            <a:ext cx="6629400" cy="438912"/>
          </a:xfrm>
          <a:prstGeom prst="roundRect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97296"/>
            <a:ext cx="6263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Подход: структура данных следует реальным запросам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12680" y="-685800"/>
            <a:ext cx="2926080" cy="292608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103120" cy="210312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F6F8FF"/>
                </a:solidFill>
                <a:latin typeface="Aptos"/>
              </a:rPr>
              <a:t>Архитектура решения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777240" cy="50292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960120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EBCDA"/>
                </a:solidFill>
                <a:latin typeface="Aptos"/>
              </a:rPr>
              <a:t>Небольшой прототип с понятным разделением ролей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04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029968"/>
            <a:ext cx="54864" cy="3118104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Пользователь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Запрос: поиск, фильтр или карточка товара.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2029968"/>
            <a:ext cx="54864" cy="3118104"/>
          </a:xfrm>
          <a:prstGeom prst="rect">
            <a:avLst/>
          </a:prstGeom>
          <a:solidFill>
            <a:srgbClr val="8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Python + PyMongo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Логика CRUD, фильтрация, индексы и агрегация.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3" y="2029968"/>
            <a:ext cx="54864" cy="3118104"/>
          </a:xfrm>
          <a:prstGeom prst="rect">
            <a:avLst/>
          </a:prstGeom>
          <a:solidFill>
            <a:srgbClr val="4DE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Коллекция products хранит документы каталога.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15000"/>
            <a:ext cx="6629400" cy="438912"/>
          </a:xfrm>
          <a:prstGeom prst="roundRect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97296"/>
            <a:ext cx="6263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Поток: запрос → Python → MongoDB → результат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12680" y="-685800"/>
            <a:ext cx="2926080" cy="292608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103120" cy="210312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F6F8FF"/>
                </a:solidFill>
                <a:latin typeface="Aptos"/>
              </a:rPr>
              <a:t>Модель данных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777240" cy="50292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960120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EBCDA"/>
                </a:solidFill>
                <a:latin typeface="Aptos"/>
              </a:rPr>
              <a:t>Один товар — один документ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05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029968"/>
            <a:ext cx="54864" cy="3118104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Основные поля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name, brand, category, price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2029968"/>
            <a:ext cx="54864" cy="3118104"/>
          </a:xfrm>
          <a:prstGeom prst="rect">
            <a:avLst/>
          </a:prstGeom>
          <a:solidFill>
            <a:srgbClr val="8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Характеристики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specs: набор параметров товара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3" y="2029968"/>
            <a:ext cx="54864" cy="3118104"/>
          </a:xfrm>
          <a:prstGeom prst="rect">
            <a:avLst/>
          </a:prstGeom>
          <a:solidFill>
            <a:srgbClr val="4DE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Дополнительно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stock, description, created_at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15000"/>
            <a:ext cx="6629400" cy="438912"/>
          </a:xfrm>
          <a:prstGeom prst="roundRect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97296"/>
            <a:ext cx="6263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Документ хранит поля товара и вложенные спецификации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12680" y="-685800"/>
            <a:ext cx="2926080" cy="292608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103120" cy="210312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F6F8FF"/>
                </a:solidFill>
                <a:latin typeface="Aptos"/>
              </a:rPr>
              <a:t>Функциональность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777240" cy="50292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960120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EBCDA"/>
                </a:solidFill>
                <a:latin typeface="Aptos"/>
              </a:rPr>
              <a:t>Что реализовано в прототипе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06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029968"/>
            <a:ext cx="54864" cy="3118104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CRUD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Создание, чтение, изменение и удаление товара.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2029968"/>
            <a:ext cx="54864" cy="3118104"/>
          </a:xfrm>
          <a:prstGeom prst="rect">
            <a:avLst/>
          </a:prstGeom>
          <a:solidFill>
            <a:srgbClr val="8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Поиск и фильтры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Название, категория, диапазон цены и параметры.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3" y="2029968"/>
            <a:ext cx="54864" cy="3118104"/>
          </a:xfrm>
          <a:prstGeom prst="rect">
            <a:avLst/>
          </a:prstGeom>
          <a:solidFill>
            <a:srgbClr val="4DE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Индексы и аналитика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Индексирование полей и средняя цена по категории.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15000"/>
            <a:ext cx="6629400" cy="438912"/>
          </a:xfrm>
          <a:prstGeom prst="roundRect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97296"/>
            <a:ext cx="6263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Все операции объединены в модуль каталога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12680" y="-685800"/>
            <a:ext cx="2926080" cy="292608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103120" cy="210312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F6F8FF"/>
                </a:solidFill>
                <a:latin typeface="Aptos"/>
              </a:rPr>
              <a:t>Access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777240" cy="50292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960120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EBCDA"/>
                </a:solidFill>
                <a:latin typeface="Aptos"/>
              </a:rPr>
              <a:t>Запросы, под которые проектируется база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07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029968"/>
            <a:ext cx="54864" cy="3118104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Частые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Поиск по категории; фильтр по цене; карточка по 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2029968"/>
            <a:ext cx="54864" cy="3118104"/>
          </a:xfrm>
          <a:prstGeom prst="rect">
            <a:avLst/>
          </a:prstGeom>
          <a:solidFill>
            <a:srgbClr val="8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Каталог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Сортировка по цене; выборка по бренду.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3" y="2029968"/>
            <a:ext cx="54864" cy="3118104"/>
          </a:xfrm>
          <a:prstGeom prst="rect">
            <a:avLst/>
          </a:prstGeom>
          <a:solidFill>
            <a:srgbClr val="4DE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Аналитика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Средняя цена по категории; число товаров в наличии.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15000"/>
            <a:ext cx="6629400" cy="438912"/>
          </a:xfrm>
          <a:prstGeom prst="roundRect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97296"/>
            <a:ext cx="6263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Access Patterns помогают обосновать выбор индексов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12680" y="-685800"/>
            <a:ext cx="2926080" cy="292608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103120" cy="210312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F6F8FF"/>
                </a:solidFill>
                <a:latin typeface="Aptos"/>
              </a:rPr>
              <a:t>Проверка и тестирование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777240" cy="50292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960120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EBCDA"/>
                </a:solidFill>
                <a:latin typeface="Aptos"/>
              </a:rPr>
              <a:t>Как проверять работоспособность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08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029968"/>
            <a:ext cx="54864" cy="3118104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Подготовлено 37 синтетических товаров.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2029968"/>
            <a:ext cx="54864" cy="3118104"/>
          </a:xfrm>
          <a:prstGeom prst="rect">
            <a:avLst/>
          </a:prstGeom>
          <a:solidFill>
            <a:srgbClr val="8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Тесты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Проверка структуры и количества тестовых записей.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3" y="2029968"/>
            <a:ext cx="54864" cy="3118104"/>
          </a:xfrm>
          <a:prstGeom prst="rect">
            <a:avLst/>
          </a:prstGeom>
          <a:solidFill>
            <a:srgbClr val="4DE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Производительность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Сравнение explain до и после создания индекса.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15000"/>
            <a:ext cx="6629400" cy="438912"/>
          </a:xfrm>
          <a:prstGeom prst="roundRect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97296"/>
            <a:ext cx="6263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Сценарии тестирования описаны в проектной документации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12680" y="-685800"/>
            <a:ext cx="2926080" cy="292608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103120" cy="210312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F6F8FF"/>
                </a:solidFill>
                <a:latin typeface="Aptos"/>
              </a:rPr>
              <a:t>Решения и ограничения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777240" cy="50292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960120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EBCDA"/>
                </a:solidFill>
                <a:latin typeface="Aptos"/>
              </a:rPr>
              <a:t>Что важно отметить на защите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09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029968"/>
            <a:ext cx="54864" cy="3118104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Решение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MongoDB выбрана за гибкую структуру и поддержку индексов.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2029968"/>
            <a:ext cx="54864" cy="3118104"/>
          </a:xfrm>
          <a:prstGeom prst="rect">
            <a:avLst/>
          </a:prstGeom>
          <a:solidFill>
            <a:srgbClr val="8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ADR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Зафиксированы контекст, решение и альтернативы.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3" y="2029968"/>
            <a:ext cx="54864" cy="3118104"/>
          </a:xfrm>
          <a:prstGeom prst="rect">
            <a:avLst/>
          </a:prstGeom>
          <a:solidFill>
            <a:srgbClr val="4DE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Ограничение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Измерения explain нужно запускать на реальном MongoDB.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15000"/>
            <a:ext cx="6629400" cy="438912"/>
          </a:xfrm>
          <a:prstGeom prst="roundRect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97296"/>
            <a:ext cx="6263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Результаты производительности следует подтвердить запуском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12680" y="-685800"/>
            <a:ext cx="2926080" cy="292608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52760" y="5257800"/>
            <a:ext cx="2103120" cy="2103120"/>
          </a:xfrm>
          <a:prstGeom prst="ellipse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38912"/>
            <a:ext cx="108813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 i="0">
                <a:solidFill>
                  <a:srgbClr val="F6F8FF"/>
                </a:solidFill>
                <a:latin typeface="Aptos"/>
              </a:rPr>
              <a:t>Итоги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097280"/>
            <a:ext cx="777240" cy="50292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0" y="960120"/>
            <a:ext cx="95097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EBCDA"/>
                </a:solidFill>
                <a:latin typeface="Aptos"/>
              </a:rPr>
              <a:t>Результат и дальнейшие шаги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473952"/>
            <a:ext cx="914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10  /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2029968"/>
            <a:ext cx="54864" cy="3118104"/>
          </a:xfrm>
          <a:prstGeom prst="rect">
            <a:avLst/>
          </a:prstGeom>
          <a:solidFill>
            <a:srgbClr val="34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Готово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Структура проекта, CRUD-логика, данные и документация.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2029968"/>
            <a:ext cx="54864" cy="3118104"/>
          </a:xfrm>
          <a:prstGeom prst="rect">
            <a:avLst/>
          </a:prstGeom>
          <a:solidFill>
            <a:srgbClr val="8E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91456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Далее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456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Запустить MongoDB, выполнить тесты и замерить запросы.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828800"/>
            <a:ext cx="3337560" cy="3520440"/>
          </a:xfrm>
          <a:prstGeom prst="roundRect">
            <a:avLst/>
          </a:prstGeom>
          <a:solidFill>
            <a:srgbClr val="1D29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84463" y="2029968"/>
            <a:ext cx="54864" cy="3118104"/>
          </a:xfrm>
          <a:prstGeom prst="rect">
            <a:avLst/>
          </a:prstGeom>
          <a:solidFill>
            <a:srgbClr val="4DE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2011680"/>
            <a:ext cx="277063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6F8FF"/>
                </a:solidFill>
                <a:latin typeface="Aptos"/>
              </a:rPr>
              <a:t>Спасибо!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487168"/>
            <a:ext cx="2770632" cy="2697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EBCDA"/>
                </a:solidFill>
                <a:latin typeface="Aptos"/>
              </a:rPr>
              <a:t>Готова ответить на вопросы.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715000"/>
            <a:ext cx="6629400" cy="438912"/>
          </a:xfrm>
          <a:prstGeom prst="roundRect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97296"/>
            <a:ext cx="62636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EBCDA"/>
                </a:solidFill>
                <a:latin typeface="Aptos"/>
              </a:rPr>
              <a:t>Прототип готов к запуску и демонстрации после настройки БД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01583" y="5687568"/>
            <a:ext cx="3337560" cy="502920"/>
          </a:xfrm>
          <a:prstGeom prst="roundRect">
            <a:avLst/>
          </a:prstGeom>
          <a:solidFill>
            <a:srgbClr val="14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5797296"/>
            <a:ext cx="29260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34D3E8"/>
                </a:solidFill>
                <a:latin typeface="Aptos"/>
              </a:rP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